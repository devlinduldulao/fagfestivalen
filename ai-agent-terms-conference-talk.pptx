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3211f743eb4617" /><Relationship Type="http://schemas.openxmlformats.org/officeDocument/2006/relationships/extended-properties" Target="/docProps/app.xml" Id="Rb3676755548a4fb0" /><Relationship Type="http://schemas.openxmlformats.org/officeDocument/2006/relationships/officeDocument" Target="/ppt/presentation.xml" Id="Rb06ac09086dc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352d41616c4a75"/>
  </p:sldMasterIdLst>
  <p:notesMasterIdLst>
    <p:notesMasterId xmlns:r="http://schemas.openxmlformats.org/officeDocument/2006/relationships" r:id="R47ffd5bb48104fc8"/>
  </p:notesMasterIdLst>
  <p:sldIdLst>
    <p:sldId xmlns:r="http://schemas.openxmlformats.org/officeDocument/2006/relationships" id="256" r:id="Rc5f9d8adeb474bfd"/>
    <p:sldId xmlns:r="http://schemas.openxmlformats.org/officeDocument/2006/relationships" id="257" r:id="R39cbebe9ab9b47b5"/>
    <p:sldId xmlns:r="http://schemas.openxmlformats.org/officeDocument/2006/relationships" id="258" r:id="R4846099cdff44201"/>
    <p:sldId xmlns:r="http://schemas.openxmlformats.org/officeDocument/2006/relationships" id="259" r:id="R80031fa3bec84338"/>
    <p:sldId xmlns:r="http://schemas.openxmlformats.org/officeDocument/2006/relationships" id="260" r:id="R206db2c308cd47bd"/>
    <p:sldId xmlns:r="http://schemas.openxmlformats.org/officeDocument/2006/relationships" id="261" r:id="R8f734b74dc7741c8"/>
    <p:sldId xmlns:r="http://schemas.openxmlformats.org/officeDocument/2006/relationships" id="262" r:id="R4c069ec0536d4029"/>
    <p:sldId xmlns:r="http://schemas.openxmlformats.org/officeDocument/2006/relationships" id="263" r:id="Rce02d00959d74564"/>
    <p:sldId xmlns:r="http://schemas.openxmlformats.org/officeDocument/2006/relationships" id="264" r:id="R5cbd63f2f1cc4300"/>
    <p:sldId xmlns:r="http://schemas.openxmlformats.org/officeDocument/2006/relationships" id="265" r:id="R4cb854b2bbe640fc"/>
    <p:sldId xmlns:r="http://schemas.openxmlformats.org/officeDocument/2006/relationships" id="266" r:id="Ra2f987ee60a94217"/>
    <p:sldId xmlns:r="http://schemas.openxmlformats.org/officeDocument/2006/relationships" id="267" r:id="R5f31888b1f104a8e"/>
    <p:sldId xmlns:r="http://schemas.openxmlformats.org/officeDocument/2006/relationships" id="268" r:id="R59e98b6bff174c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b0b202dcc44d93" /><Relationship Type="http://schemas.openxmlformats.org/officeDocument/2006/relationships/slideMaster" Target="/ppt/slideMasters/slideMaster1.xml" Id="R13352d41616c4a75" /><Relationship Type="http://schemas.openxmlformats.org/officeDocument/2006/relationships/notesMaster" Target="/ppt/notesMasters/notesMaster1.xml" Id="R47ffd5bb48104fc8" /><Relationship Type="http://schemas.openxmlformats.org/officeDocument/2006/relationships/presProps" Target="/ppt/presProps.xml" Id="R39e2cda0a0b9433c" /><Relationship Type="http://schemas.openxmlformats.org/officeDocument/2006/relationships/tableStyles" Target="/ppt/tableStyles.xml" Id="R2f9fb4765b0048fd" /><Relationship Type="http://schemas.openxmlformats.org/officeDocument/2006/relationships/slide" Target="/ppt/slides/slide1.xml" Id="Rc5f9d8adeb474bfd" /><Relationship Type="http://schemas.openxmlformats.org/officeDocument/2006/relationships/slide" Target="/ppt/slides/slide2.xml" Id="R39cbebe9ab9b47b5" /><Relationship Type="http://schemas.openxmlformats.org/officeDocument/2006/relationships/slide" Target="/ppt/slides/slide3.xml" Id="R4846099cdff44201" /><Relationship Type="http://schemas.openxmlformats.org/officeDocument/2006/relationships/slide" Target="/ppt/slides/slide4.xml" Id="R80031fa3bec84338" /><Relationship Type="http://schemas.openxmlformats.org/officeDocument/2006/relationships/slide" Target="/ppt/slides/slide5.xml" Id="R206db2c308cd47bd" /><Relationship Type="http://schemas.openxmlformats.org/officeDocument/2006/relationships/slide" Target="/ppt/slides/slide6.xml" Id="R8f734b74dc7741c8" /><Relationship Type="http://schemas.openxmlformats.org/officeDocument/2006/relationships/slide" Target="/ppt/slides/slide7.xml" Id="R4c069ec0536d4029" /><Relationship Type="http://schemas.openxmlformats.org/officeDocument/2006/relationships/slide" Target="/ppt/slides/slide8.xml" Id="Rce02d00959d74564" /><Relationship Type="http://schemas.openxmlformats.org/officeDocument/2006/relationships/slide" Target="/ppt/slides/slide9.xml" Id="R5cbd63f2f1cc4300" /><Relationship Type="http://schemas.openxmlformats.org/officeDocument/2006/relationships/slide" Target="/ppt/slides/slide10.xml" Id="R4cb854b2bbe640fc" /><Relationship Type="http://schemas.openxmlformats.org/officeDocument/2006/relationships/slide" Target="/ppt/slides/slide11.xml" Id="Ra2f987ee60a94217" /><Relationship Type="http://schemas.openxmlformats.org/officeDocument/2006/relationships/slide" Target="/ppt/slides/slide12.xml" Id="R5f31888b1f104a8e" /><Relationship Type="http://schemas.openxmlformats.org/officeDocument/2006/relationships/slide" Target="/ppt/slides/slide13.xml" Id="R59e98b6bff174c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5dff4d7a0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34d4b31804088" /><Relationship Type="http://schemas.openxmlformats.org/officeDocument/2006/relationships/notesMaster" Target="/ppt/notesMasters/notesMaster1.xml" Id="R8fbffb1295b6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41ebbed7a2446e" /><Relationship Type="http://schemas.openxmlformats.org/officeDocument/2006/relationships/notesMaster" Target="/ppt/notesMasters/notesMaster1.xml" Id="Rd3cca44dd3b3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610d8c006a4d8c" /><Relationship Type="http://schemas.openxmlformats.org/officeDocument/2006/relationships/notesMaster" Target="/ppt/notesMasters/notesMaster1.xml" Id="Rad189ad99151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a7a89610124781" /><Relationship Type="http://schemas.openxmlformats.org/officeDocument/2006/relationships/notesMaster" Target="/ppt/notesMasters/notesMaster1.xml" Id="R4b36d06ba3194d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40366bf7d746b5" /><Relationship Type="http://schemas.openxmlformats.org/officeDocument/2006/relationships/notesMaster" Target="/ppt/notesMasters/notesMaster1.xml" Id="Rdb3cc90cf6e14d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0f03cb4cc4427c" /><Relationship Type="http://schemas.openxmlformats.org/officeDocument/2006/relationships/notesMaster" Target="/ppt/notesMasters/notesMaster1.xml" Id="Rb7cc201bb2124a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a46e756afa4eb3" /><Relationship Type="http://schemas.openxmlformats.org/officeDocument/2006/relationships/notesMaster" Target="/ppt/notesMasters/notesMaster1.xml" Id="R15ec8c3da9b640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6478d3d3ef48b8" /><Relationship Type="http://schemas.openxmlformats.org/officeDocument/2006/relationships/notesMaster" Target="/ppt/notesMasters/notesMaster1.xml" Id="R79e59591b4004f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66cccb9c674a2c" /><Relationship Type="http://schemas.openxmlformats.org/officeDocument/2006/relationships/notesMaster" Target="/ppt/notesMasters/notesMaster1.xml" Id="R75130ed3a78542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7e847b51a547b5" /><Relationship Type="http://schemas.openxmlformats.org/officeDocument/2006/relationships/notesMaster" Target="/ppt/notesMasters/notesMaster1.xml" Id="R3216fe00874249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e21bf33fc84cb0" /><Relationship Type="http://schemas.openxmlformats.org/officeDocument/2006/relationships/notesMaster" Target="/ppt/notesMasters/notesMaster1.xml" Id="Rec23cd5b4b694d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4e2d9a839a47e4" /><Relationship Type="http://schemas.openxmlformats.org/officeDocument/2006/relationships/notesMaster" Target="/ppt/notesMasters/notesMaster1.xml" Id="R335485c3bfdd47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f86d0cbd2c47aa" /><Relationship Type="http://schemas.openxmlformats.org/officeDocument/2006/relationships/notesMaster" Target="/ppt/notesMasters/notesMaster1.xml" Id="Rfb2e342c03b349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that agents feel magical until you name the moving parts.</a:t>
            </a:r>
          </a:p>
          <a:p xmlns:a="http://schemas.openxmlformats.org/drawingml/2006/main">
            <a:r>
              <a:t>This talk is not about one vendor's UI. It is about the vocabulary that explains how agents get instructions, capabilities, tools, peer coordination, and extra working memory.</a:t>
            </a:r>
          </a:p>
          <a:p xmlns:a="http://schemas.openxmlformats.org/drawingml/2006/main">
            <a:r>
              <a:t>Source spine: the supplied IBM Technology transcript. Current-source checks are listed on the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setup for the whole talk.</a:t>
            </a:r>
          </a:p>
          <a:p xmlns:a="http://schemas.openxmlformats.org/drawingml/2006/main">
            <a:r>
              <a:t>AGENTS.md and skills are instruction mechanisms. MCP and A2A are interoperability mechanisms. Subagents are a work-splitting pattern.</a:t>
            </a:r>
          </a:p>
          <a:p xmlns:a="http://schemas.openxmlformats.org/drawingml/2006/main">
            <a:r>
              <a:t>This framing lets the audience place a new term quickly: ask which boundary it crosses.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AGENTS.md is operational context. It reduces repeated prompting and helps agents behave consistently inside a specific repository.</a:t>
            </a:r>
          </a:p>
          <a:p xmlns:a="http://schemas.openxmlformats.org/drawingml/2006/main">
            <a:r>
              <a:t>The nesting idea matters for monorepos. A root file can set broad rules, and a subproject file can add narrower rules for one folder.</a:t>
            </a:r>
          </a:p>
          <a:p xmlns:a="http://schemas.openxmlformats.org/drawingml/2006/main">
            <a:r>
              <a:t>Current-source check: Linux Foundation describes AGENTS.md as a project-specific guidance standard released by OpenAI and contributed to AAIF.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command shown on the previous slide.</a:t>
            </a:r>
          </a:p>
          <a:p xmlns:a="http://schemas.openxmlformats.org/drawingml/2006/main">
            <a:r>
              <a:t>Point out that this demo is deliberately not calling a model. It isolates the instruction-loading pattern so the audience can see the mechanism.</a:t>
            </a:r>
          </a:p>
          <a:p xmlns:a="http://schemas.openxmlformats.org/drawingml/2006/main">
            <a:r>
              <a:t>Transition: AGENTS.md is always-on project knowledge. The next term covers knowledge that should only load for certain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are task-specific capabilities. The metadata tells the agent when to invoke the folder, and the folder can carry implementation detail that would be wasteful to load every time.</a:t>
            </a:r>
          </a:p>
          <a:p xmlns:a="http://schemas.openxmlformats.org/drawingml/2006/main">
            <a:r>
              <a:t>Use the phrase progressive disclosure: load the heavy instructions only when the request matches.</a:t>
            </a:r>
          </a:p>
          <a:p xmlns:a="http://schemas.openxmlformats.org/drawingml/2006/main">
            <a:r>
              <a:t>Current-source check: OpenAI developer docs and agentskills.io both describe skills as instructions, resources, and optional scripts packaged around 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deck-outline command, then optionally run the security-review command from the README.</a:t>
            </a:r>
          </a:p>
          <a:p xmlns:a="http://schemas.openxmlformats.org/drawingml/2006/main">
            <a:r>
              <a:t>Point out the key behavior: the agent sees short skill descriptions first, then opens the detailed skill only when the description matches.</a:t>
            </a:r>
          </a:p>
          <a:p xmlns:a="http://schemas.openxmlformats.org/drawingml/2006/main">
            <a:r>
              <a:t>Transition: so far, instructions live inside the agent's working environment. Next, the agent needs a standard way to reach external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is the tool and data boundary. The useful mental model is: host, client, server, tool.</a:t>
            </a:r>
          </a:p>
          <a:p xmlns:a="http://schemas.openxmlformats.org/drawingml/2006/main">
            <a:r>
              <a:t>Do not overclaim that MCP makes tools safe by itself. It standardizes connection and discovery; security still depends on server behavior, authorization, deployment, and review.</a:t>
            </a:r>
          </a:p>
          <a:p xmlns:a="http://schemas.openxmlformats.org/drawingml/2006/main">
            <a:r>
              <a:t>Current-source check: official MCP docs describe MCP as an open-source standard for connecting AI applications to external systems; Anthropic introduced it publicly in late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client. It starts the server as a subprocess so the demo has no setup.</a:t>
            </a:r>
          </a:p>
          <a:p xmlns:a="http://schemas.openxmlformats.org/drawingml/2006/main">
            <a:r>
              <a:t>Say explicitly that this is MCP-shaped, not a production MCP SDK implementation. It is meant to show the list tools then call tool interaction.</a:t>
            </a:r>
          </a:p>
          <a:p xmlns:a="http://schemas.openxmlformats.org/drawingml/2006/main">
            <a:r>
              <a:t>Transition: MCP handles agents to tools and data. A2A handles agents to other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procurement and finance example because it is concrete and matches the transcript.</a:t>
            </a:r>
          </a:p>
          <a:p xmlns:a="http://schemas.openxmlformats.org/drawingml/2006/main">
            <a:r>
              <a:t>The agent card is the key teaching object: it is the discovery surface another agent can read before delegating.</a:t>
            </a:r>
          </a:p>
          <a:p xmlns:a="http://schemas.openxmlformats.org/drawingml/2006/main">
            <a:r>
              <a:t>Current-source check: Linux Foundation describes A2A as an open protocol for secure agent communication, launched by Google and moved under the Linux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command and show the printed agent card before the approval result.</a:t>
            </a:r>
          </a:p>
          <a:p xmlns:a="http://schemas.openxmlformats.org/drawingml/2006/main">
            <a:r>
              <a:t>Make the distinction from MCP clear: MCP is tool or data access; A2A is peer-agent coordination.</a:t>
            </a:r>
          </a:p>
          <a:p xmlns:a="http://schemas.openxmlformats.org/drawingml/2006/main">
            <a:r>
              <a:t>Transition: even with good instructions and protocols, a single agent can still run out of context or time. That leads to subagents.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Subagents are a common architecture pattern, not the same kind of formal standard as MCP or A2A.</a:t>
            </a:r>
          </a:p>
          <a:p xmlns:a="http://schemas.openxmlformats.org/drawingml/2006/main">
            <a:r>
              <a:t>The parent gives each child a scoped task. The child returns a result. The parent keeps the useful summary instead of every file and every intermediate token.</a:t>
            </a:r>
          </a:p>
          <a:p xmlns:a="http://schemas.openxmlformats.org/drawingml/2006/main">
            <a:r>
              <a:t>Good examples: review many independent modules, summarize many documents, run many checks, or investigate several hypotheses in parallel.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command and emphasize that this is a pattern demo. Real agent systems may isolate memory, tools, prompts, permissions, and model calls more strongly than a Python thread.</a:t>
            </a:r>
          </a:p>
          <a:p xmlns:a="http://schemas.openxmlformats.org/drawingml/2006/main">
            <a:r>
              <a:t>The important conference takeaway: subagents are not a magic quality boost. They are useful when the work splits cleanly and the parent can evaluate the returned summaries.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boundary map from slide 2.</a:t>
            </a:r>
          </a:p>
          <a:p xmlns:a="http://schemas.openxmlformats.org/drawingml/2006/main">
            <a:r>
              <a:t>Suggested final line: if you can name the boundary, you can usually choose the right agent mechanism.</a:t>
            </a:r>
          </a:p>
          <a:p xmlns:a="http://schemas.openxmlformats.org/drawingml/2006/main">
            <a:r>
              <a:t>Sources checked: supplied IBM Technology transcript; Linux Foundation announcement on AAIF and AGENTS.md; AAIF project page; OpenAI Agent Skills docs; agentskills.io overview; Anthropic MCP announcement; official MCP docs; Linux Foundation A2A announcement; Google Cloud A2A donation post; A2A GitHub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c1af447444a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2d5c6f00e477b" /><Relationship Type="http://schemas.openxmlformats.org/officeDocument/2006/relationships/slideLayout" Target="/ppt/slideLayouts/slideLayout1.xml" Id="Rf3428e642cc8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428e642cc8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8e73a1d04e72" /><Relationship Type="http://schemas.openxmlformats.org/officeDocument/2006/relationships/notesSlide" Target="/ppt/notesSlides/notesSlide1.xml" Id="Rb09afdb0537f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5203d46af43c6" /><Relationship Type="http://schemas.openxmlformats.org/officeDocument/2006/relationships/notesSlide" Target="/ppt/notesSlides/notesSlide2.xml" Id="R50fa3928763d44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edd4b4bee4548" /><Relationship Type="http://schemas.openxmlformats.org/officeDocument/2006/relationships/notesSlide" Target="/ppt/notesSlides/notesSlide3.xml" Id="R8d90a3b372aa4a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3ff7027344aef" /><Relationship Type="http://schemas.openxmlformats.org/officeDocument/2006/relationships/notesSlide" Target="/ppt/notesSlides/notesSlide4.xml" Id="Rda83502b4dcf43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65ec220d248b0" /><Relationship Type="http://schemas.openxmlformats.org/officeDocument/2006/relationships/notesSlide" Target="/ppt/notesSlides/notesSlide5.xml" Id="R311713845c7045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c81280de9459a" /><Relationship Type="http://schemas.openxmlformats.org/officeDocument/2006/relationships/notesSlide" Target="/ppt/notesSlides/notesSlide6.xml" Id="Rf526d060ce8742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273618a8294921" /><Relationship Type="http://schemas.openxmlformats.org/officeDocument/2006/relationships/notesSlide" Target="/ppt/notesSlides/notesSlide7.xml" Id="Rcce65306477c49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4ec22b9764b20" /><Relationship Type="http://schemas.openxmlformats.org/officeDocument/2006/relationships/notesSlide" Target="/ppt/notesSlides/notesSlide8.xml" Id="R1189d991622841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16d06f52b489a" /><Relationship Type="http://schemas.openxmlformats.org/officeDocument/2006/relationships/notesSlide" Target="/ppt/notesSlides/notesSlide9.xml" Id="Rf89be810e78e4f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9212342e04018" /><Relationship Type="http://schemas.openxmlformats.org/officeDocument/2006/relationships/notesSlide" Target="/ppt/notesSlides/notesSlide10.xml" Id="R33b5bb20fba34b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9d739281b44e7" /><Relationship Type="http://schemas.openxmlformats.org/officeDocument/2006/relationships/notesSlide" Target="/ppt/notesSlides/notesSlide11.xml" Id="R7d64777617fa41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53a15153f4029" /><Relationship Type="http://schemas.openxmlformats.org/officeDocument/2006/relationships/notesSlide" Target="/ppt/notesSlides/notesSlide12.xml" Id="R860803a9859247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2a6a0768c4140" /><Relationship Type="http://schemas.openxmlformats.org/officeDocument/2006/relationships/notesSlide" Target="/ppt/notesSlides/notesSlide13.xml" Id="R3bfd334ad66445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07E85-10DB-4099-BBA1-7F6AB4CC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5 AI Agent Terms You Need to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C7665-0F06-4944-8168-87BE2E6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847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320FD-8AA9-4DEA-BFCC-1C3141CD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A conference-ready walkthrough of the project files, reusable skills, protocols, and work-splitting patterns behind modern agents.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05BD0-9B00-44A1-8AC2-D19C94A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704850"/>
            <a:ext cx="29146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FFA02-D9FB-4F1B-BC8C-7ABD05D2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00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inside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5AAF3-5EE6-4D0F-B6CE-B3ADCA20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09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outside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1D6F8-F23F-41CA-9B02-A5A2EA38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19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parallel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87DE4-8A7C-410F-9A2F-21C4409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431DA-408F-46EB-ADE4-EF0B4A2B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48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BC8E69-089D-4036-9181-4251028B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AGENTS.md + 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3612-BBF7-465C-A0CE-26CC92FD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MCP + A2A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36689-6270-406D-87F8-8A33AEA5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29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subagents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08219-8BF2-421C-8ACF-B640A744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conference talk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1E3FF-55E7-4932-9B19-6D23D08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6516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C9779-F84C-48A5-95BC-045E3D6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Each term solves one boundary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CA972-8006-4404-B404-B218BB0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If the audience remembers one thing, make it this map.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A1218-2CCA-45AE-A23F-E773D27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mental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5D8B9-ECCE-430E-8DCC-F4C8AFD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8B8C2-216D-4E2B-B87A-A1B845EB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22050-0F9C-49A5-A85D-AFBA97B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INSIDE THE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C8262-947B-4F29-8A74-FA148CAD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1C8B3-32CB-46E6-A129-E18C8595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What should this agent know before it starts?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4B39-179D-4CDB-9D64-09A6981E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55C11-2DC8-4412-9691-6D57F230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5476E-7244-47A8-843B-2FD21382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OUTSIDE THE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63EDD-C8A5-4DA3-80D9-88417F6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Interoperability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607DF-D4EF-4B0D-9194-938D225C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How does it reach tools, data, or other agents?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F4610-408C-4EB2-948E-4DF517DB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DF787-7EC3-49B7-B54C-43D8D07C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453AF-2DF7-4E4B-86AA-19FFAE68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ACROSS THE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41346-A9EE-4016-8BFE-EE961A5C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64B7D-61BB-4E10-B5B6-7041EDE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How does it divide work that will not fit in one context?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92273-F550-4126-9C1C-7B3130DF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terms are easier to teach as boundaries, not vocabulary flashcards.</a:t>
            </a:r>
          </a:p>
        </p:txBody>
      </p:sp>
    </p:spTree>
    <p:extLst>
      <p:ext uri="{BB962C8B-B14F-4D97-AF65-F5344CB8AC3E}">
        <p14:creationId xmlns:p14="http://schemas.microsoft.com/office/powerpoint/2010/main" val="452000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ED95C-50E7-42FB-AC35-E89087D1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AGENTS.md makes repo rules discoverable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FB47D-BFDF-435C-8C80-FB0A2E83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It is a README-style file written for coding agents, not humans browsing the repo.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48320-2913-43D9-AD61-9B01777C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D5EA2-F127-4ADB-883D-627027FF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E2A0A-067A-4CC2-B9EB-EAFA8E8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6B35"/>
                </a:solidFill>
              </a:defRPr>
            </a:pPr>
            <a:r>
              <a:rPr sz="42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2F204-66C9-4BB5-BA52-B373FC0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B1F22-EABB-4737-9706-ABBC6353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05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7237C1-5464-4F00-8D22-E57B7D2B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Lives in the repository and is read when the agent starts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42382-4D48-4608-BF35-E008B8E4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955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ADB67-F59B-4BC5-A62F-ADE8C785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Tells the agent setup commands, test commands, conventions, and PR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E6847-A48E-4A21-825C-8BFFCACC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D70BE-B519-48CE-8B9E-B84A9FD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19450"/>
            <a:ext cx="525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Can be nested so local instructions narrow the general repo instructions.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096D0-D811-4258-972A-D7D9779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4D1CB-A2D9-4E21-A89F-3E5A062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33925"/>
            <a:ext cx="546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python 01-agents-md/demo_agents_md.py 01-agents-md/app/services</a:t>
            </a:r>
          </a:p>
        </p:txBody>
      </p:sp>
    </p:spTree>
    <p:extLst>
      <p:ext uri="{BB962C8B-B14F-4D97-AF65-F5344CB8AC3E}">
        <p14:creationId xmlns:p14="http://schemas.microsoft.com/office/powerpoint/2010/main" val="1048052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6C40F-E7DB-43BE-B20A-DDD0B118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Demo: local instructions override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299FA-2D57-41D2-9D41-CEFEF2E0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script walks up the directory tree and prints every AGENTS.md it finds.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CF655-E30D-4190-B704-E2FFD6D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1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46B0A-44C6-4B6B-A89F-4809C7D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3069B-12D8-48D1-AC29-625DD16D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57340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AF28D-67D5-4C31-8DEF-6E30119E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27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01-agents-md/demo_agents_md.py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0A01D-2359-417D-8EBD-A205511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2768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def find_agent_instructions(start):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current = Path(start).resolve()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found = []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for folder in [current, *current.parents]: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candidate = folder / "AGENTS.md"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if candidate.exists():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    found.append(candidate)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return list(reversed(found))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5BAA0-F244-4F65-8D07-AC831E4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476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B4634-B699-4CED-9C55-E4508703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What to show live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32827-144D-4938-9E1C-3A93E636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194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E7928-6438-48D2-8505-CBA08E7D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5275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Root instructions load first.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2A49D-37FE-449D-B00E-34C5362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29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F46A3-65C7-4A39-B45E-5B640F2D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Service-layer instructions load after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ABE7C-09E3-49C3-823C-ACCDEE41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386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C7489-1282-4385-BA55-A3211F8E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71950"/>
            <a:ext cx="3409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combined behavior is deterministic and inspectable.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14939-9DD7-4D87-AA44-F3F002D7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1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FBE94C-42ED-48FE-912F-709D8B48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1861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1DDCA-01CF-47C3-83FA-3912BF49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Skills load expertise on demand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0275D-EAED-4F7D-8A75-C803C1C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 skill is a folder with SKILL.md plus optional scripts, references, or templates.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AAF43-2376-41EB-A23A-E76BEE6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3FEF2-D4BD-4FE0-8BC4-5C9A97DB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D951A-8983-48E3-ACD0-39D4F10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6B35"/>
                </a:solidFill>
              </a:defRPr>
            </a:pPr>
            <a:r>
              <a:rPr sz="42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05E21-1399-42B2-9229-C49F7D0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Agent 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EB5CD-9CEC-445C-91D0-6072946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238AB-3336-4BD4-944A-FED68C45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SKILL.md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4BD14-6CC9-48E5-98DD-A1261A6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name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description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CD90F-0535-4EA4-A7F8-D49FE163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3812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47444-9F2D-4945-AA52-4A42990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050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resources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33DF5-8BB3-4ECA-9A7F-604BC67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scripts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examples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4AC88-972C-4957-871F-0E38804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718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02A02-03C5-46A8-93CE-E8EF77D7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196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Progressive disclosure keeps the main context smaller and more relevant.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9092A-11B3-484C-B359-1DB8802E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7BC74-EA9B-4F3F-BD9B-85B5DD95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0573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1B0FD4-2B98-4827-B56D-CFFDAA9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Demo: choose a skill by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849BC-0696-41B6-B462-2BF65029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code reads SKILL.md frontmatter, scores the task, and loads only the matching folder.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6960-5DAA-430E-ACDF-A3086AB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2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EDACC-8DB1-4CFE-BD7F-6E2B499E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1FC5-27C2-4906-ABD1-EB0530BA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53530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14FBA-81DB-42F6-87BE-51FC27E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02-agent-skills/agent.py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2629E-4B6A-4967-B6BE-E916055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8958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def score(task, skill):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haystack = f"{skill.name} {skill.description}".lower()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return sum(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1 for word in task.lower().split()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if word.strip(".,!?") in haystack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C9DD7-4D2A-445F-B620-8EF70E18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611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7D360-BACC-4AA2-8414-040CFAE9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python 02-agent-skills/agent.py "make a conference deck outline"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089C4-7557-4AF3-A1DD-2A1AC1A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62150"/>
            <a:ext cx="41719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60052-44B9-4C1B-A37C-42874A99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Narrate this as a context budget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94699-E956-42A8-A678-3EF6E8B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model does not need slide-building rules during a security review, and it does not need security-review rules during deck creation.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30CFF-6863-44F4-BF06-C53C5F5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2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2572E-4514-4A28-A181-C324108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9124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C751FB-8B97-49FD-A530-743B90AE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MCP gives tools one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C8158-99CE-44ED-8B5E-F2DDC545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Instead of a custom integration per app, the agent speaks one protocol to MCP servers.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25903-5C63-41C3-8F9C-C8EB056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EA584-477C-4172-A6BE-A5884BBB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B44E6-42C9-45A7-8590-7675855E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6B35"/>
                </a:solidFill>
              </a:defRPr>
            </a:pPr>
            <a:r>
              <a:rPr sz="42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6935D-F2F3-4DEB-A180-D5CE2448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MCP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85ECA-3098-46AC-BF42-305A939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340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CD9D2-9849-4CD0-86C6-45BEA3C2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88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5ABE4-2159-4029-9696-B96161E4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88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Agent 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3199B-EC29-42E1-9CDA-6739B58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88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The AI application asks what tools exist.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4ECF3-016B-46C9-B8AA-0C46D641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057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2310D-104C-4AE8-9E1F-694252C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352800"/>
            <a:ext cx="3340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96EB0-422E-4041-8175-348B4275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3581400"/>
            <a:ext cx="288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E15F2-2B18-41F2-BB9B-AD8BFF7C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3886200"/>
            <a:ext cx="288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DE78E-B6C3-4A37-950A-73D500E0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4324350"/>
            <a:ext cx="288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Messages have a common shape.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AC72D-7BD4-43DD-BE10-3AE1D87E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40576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F1523-7943-485B-B2A2-0F98A49D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352800"/>
            <a:ext cx="3340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843E2-03DF-438E-BF4D-9AA1E20B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581400"/>
            <a:ext cx="288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FADD9-34F6-4460-B8B0-8048B52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3886200"/>
            <a:ext cx="288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Tool wrapper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5EF1D-B8C6-406D-8E17-FCF3F2A3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4324350"/>
            <a:ext cx="288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The server handles the real API.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40130-D0DF-4997-ABD0-E0C9918A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8A5FA-D811-4E7C-87AE-9A19B704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2168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7C41F-D8B1-4EE9-B453-B6E1F2B3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Demo: call a tool through one envelope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52E51-4F9E-45DE-A9C0-5B6C32D3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demo uses JSON lines to make the protocol shape visible in the terminal.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7208D-B55D-4591-846F-3C7B9D9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3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7894E-A672-4DEE-B98E-E7354CA9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E7F9E-085F-48BD-A349-5A739940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4781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95F98-F2D3-4705-8FD6-F6FE940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03-mcp/client.py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4E403-48E3-4546-8DB1-F4544A19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3243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{"method": "tools/list"}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{"method": "tools/call",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"params": 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"name": "inventory.lookup",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"arguments": {"sku": "sku-200"}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0B5D5-6D11-48D4-A1C9-2179B5A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B0096-6732-4F9F-9410-4DF2A64E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What the audience should notice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768CE-2608-4D4D-AB5A-919044AE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8EDAD-B0C6-428E-B467-C417F00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client lists tools before calling them.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71411-3E0D-4954-9177-931C2152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2902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81430-1EB1-4915-AC54-6BF680A7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tool call does not expose the underlying inventory 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CDA12-5D3B-4847-855E-814B2ABD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5C480-E8D9-4915-9B2C-0C8075EB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same client pattern can fit many servers.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7645A-9C5B-4600-8489-86AF281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5D2135-F16E-4629-8F97-74007948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python 03-mcp/client.py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36D85-CEAD-4C0C-AB46-2163E1E6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3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5B526-9A5E-4FF5-82AD-34E76B7F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7923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45367-92CA-49B8-AC7B-762146D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A2A lets agents discover and delegate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B9EFD-F8BD-4390-869C-2D47D697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core idea is an agent card: what this agent does and how another agent can reach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24768-8891-425C-8626-BE6C13D0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483B7-268C-4634-BFF1-C3BB172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6E639-352E-4024-AF26-EE042411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6B35"/>
                </a:solidFill>
              </a:defRPr>
            </a:pPr>
            <a:r>
              <a:rPr sz="42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D1E2D-21E8-4163-9CCF-8441534A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A2A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D6D93-1B60-4EAE-8C09-C325DB39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383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069F1-B9C2-4CA0-8ABB-0C14BEC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Procurement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64BDE-FE05-4E94-A3B2-2949A06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Needs spend approval before a contract can move.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8166A-517A-464F-818A-9813699C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438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A0A11-2241-488D-BF9D-B307AA83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Finance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9362A-6A59-45A8-A7BB-E6E9C44E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Publishes capabilities and accepts approval tasks.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F8E14-79CB-4EC8-A8C5-B28F7AF9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667CD-BD45-4BFB-B4A2-D8E2DD0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agent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F7C882-095A-4D97-AC73-848B201D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A2A is about coordination across independently built agents.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36604-7D12-421A-A8A7-AEF2CFCC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724FC-E6C9-4875-812B-02B671C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72647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1C230-FA73-424A-BEF7-53A1DA53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Demo: read a card, send a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2AE7E-F121-494F-B99B-1AF39BB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demo starts a finance agent locally and lets procurement discover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D7F65-8752-4FCF-8E76-6E73310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4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CCF41-D3C0-4262-B0ED-938EFCDD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D6E1-864E-49C6-8EDC-9331A0FD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8102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FA980-A75F-4D8D-B8FE-4A5D9F39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535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04-a2a/a2a_demo.py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29CD1-567B-48DE-A308-62320C9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5353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card = GET("/.well-known/agent-card.json")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# Card tells procurement where to delegate.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task_url = base_url + card["tasks"][0]["url"]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result = POST(task_url, {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"vendor": "Acme Training",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"amount": 4200,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1AA4C-16B6-4FB9-AE5C-D0A6620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43434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71D72-9F00-4750-AE58-6A880DC2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Teaching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2A361-24CA-4A8D-9F4E-3E855A6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314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The procurement code does not import finance code. It discovers a capability, calls the advertised endpoint, and receives a structured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C8C1E-249E-401B-AEF8-BBF1A683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B2F5A-4A39-43A7-9C02-740B21A1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33925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python 04-a2a/a2a_demo.py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7D676-F43A-496E-8E0C-900E0326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4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E25DC-3F19-4D25-84EE-79F90E96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3454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6054C-30D5-42CC-A72F-42878A5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Subagents keep parent context clean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29AF3-4B31-4242-AF49-ACFBFA21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 parent agent can spawn focused child agents, collect summaries, and continue.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20E40-D3F9-4637-8339-30322555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F33ED-4BC4-41F7-8EC4-595BC73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24452-E06E-45FA-A64E-16C105D4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6B35"/>
                </a:solidFill>
              </a:defRPr>
            </a:pPr>
            <a:r>
              <a:rPr sz="42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2DEDD-BD87-4F3E-90DF-D8F20361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</a:defRPr>
            </a:pPr>
            <a:r>
              <a:rPr sz="2550" b="0">
                <a:solidFill>
                  <a:srgbClr val="000000"/>
                </a:solidFill>
              </a:rPr>
              <a:t>Subagents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3739D-2C8C-4BCC-921A-C528425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336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B882D-B766-4B79-9F76-0FC29FF5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parent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2F4F4-5737-406A-B2D9-F7A7DEA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385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C885B-18A9-4218-95B4-FE56291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05250"/>
            <a:ext cx="542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4B727-652C-4C5A-9B77-F6A6CCB1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052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F5260-F4E1-4CE8-8B5F-0D3F39A2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EFE69-D792-4467-A7C8-FBB2D2B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child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273EE-2C80-4E93-8B3C-BCAA1243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4A68D-57CD-4017-B4DE-6689207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5F2ED-1DEE-4E27-8D4D-6ED89076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child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1C767-260E-4BE1-92B7-CF2BD06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80FEE-719B-4189-8577-1F0FC8D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BC3C2-F350-45C3-BB3C-630E615F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child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93DA1-13C0-44ED-99EB-1E1F4ED8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05250"/>
            <a:ext cx="285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7980B-05B0-43F4-A1AC-BABCDAA3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957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8336F-D6BA-4DAD-9E75-8C01370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624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child 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10003-AB83-4BBD-8CA5-2F1A603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578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Use subagents when the task is too broad for one context or naturally parallel.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DA4CAF-26C3-4790-92F5-D76CA19B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25E2F-A9C8-4F7D-8484-91CB5982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05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6391E-6FD0-43B5-A532-EFC5E64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Demo: run four reviews in parallel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B5108-FAAB-489B-B495-329B287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ThreadPoolExecutor stands in for child agents with isolated slices of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F1BE0-76A2-4217-B0DC-67C13A60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5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29DE5-7ABC-4904-A6F7-84D495CE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2E163-72C1-4A70-9A3D-4382258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600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0A8F1-B0A2-4C32-A2DF-15E05DC5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05-subagents/subagents_demo.py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61A9E-7F67-4FE8-ADFF-9681CC61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5143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with ThreadPoolExecutor(max_workers=4) as executor: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futures = [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executor.submit(run_subagent, check)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    for check in checks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for future in as_completed(futures):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print(future.result())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97C44-B92D-4C4D-91D3-4217BD44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533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B4D21-3C4A-4C7B-88ED-28FF0684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43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What this demonstrates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CAEEC-1CDE-468A-BD05-01F78015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384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CDDEA-B712-4CE0-B979-75390A0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Independent checks do not block each other.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6F168-7023-48F9-A04D-50BD40E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480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1670E-0A84-4CDF-9110-77AAE1C2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Each worker receives a small task-specific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E1CC2-8B67-48F8-A68F-EB3EAEEA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4E77A-D6E2-41A0-824B-87C5C1AF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335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The parent receives final summaries.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EE7EB-9902-4BB8-8F96-334D83E7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29250"/>
            <a:ext cx="419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28A38-5B43-4C91-86DF-E788BA1B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72125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python 05-subagents/subagents_demo.py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881CA-7AA2-4D47-9FD6-92C718A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term 5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961E0-622A-4CF8-BD6F-7D5F2B1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6796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620D9-E3E0-49C6-B76C-2B80F331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</a:defRPr>
            </a:pPr>
            <a:r>
              <a:rPr sz="2925" b="0">
                <a:solidFill>
                  <a:srgbClr val="000000"/>
                </a:solidFill>
              </a:rPr>
              <a:t>Use the term that matches the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D2741-05CD-40B2-BAE8-68299C3F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This is the closing checklist for diagnosing an agent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1594A-D4AC-4637-915D-8C6A586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CBDDD-E5D9-42BD-A138-A9C9216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9770-EB08-4C42-B898-1292818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F04EC-573F-43A6-B6B1-2284623B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49220-1628-4049-82CD-F352AC0F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02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2EC9-2718-48F8-8C79-EB3A138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0225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Use it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26377-544D-4D5D-81D7-587B2E5D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88F65-9BE8-4F9A-ACC4-7243B3D5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01A4F-163A-401F-AD7E-AD389EA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955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project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6C322-7B36-489A-9D41-6A6BC2F6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95525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Put repo-specific rules beside the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54569-362E-441D-87DE-FE302A6E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00487-2FA5-459E-99DD-E8F8596A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Agent 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F736A-DD00-4352-A5CC-C499FA82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task expertise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17728-9A3B-430B-A463-166A497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47975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Load specialized workflows only when relevant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BAD5B-2A64-4B68-8FED-2006AF99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D886C-A56D-4108-8B17-BDA84E89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372ED-46BF-4935-A618-E35610F2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004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tools and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7BC6B-8F54-46C8-98F6-C564CAED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00425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Expose external systems behind a standard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6862E-DFD7-4AA6-96DE-212914C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D937ED-4757-4A5D-AD8E-4135D160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A2A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EBEBA1-DF55-4DE3-B0F7-676397DE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528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peer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F5253-568A-47CF-86DB-2503955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52875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Publish agent cards and delegate across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6D11A-914D-4183-877D-8CEB8ED9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D8B01-FAFC-4CDF-896E-13A7A720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Subagents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580D9-9E5C-4BB9-BCB6-FE43F85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053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work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89B7B-E329-4A97-8C50-F19FF1CA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05325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Split broad or parallel tasks into focused children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7FF66D-D7D3-4120-9D2B-73918B2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Primary sources used for standards checks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1E87B-0E6C-4DA9-81A3-93BB3744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AGENTS.md / AAIF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DCF10E-F72A-4992-9DD2-B0B36087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linuxfoundation.org, aaif.io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01977-CC60-40C5-B6E1-CECA7E05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Skills / MCP / A2A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261F20-7207-4E82-BC99-26768AE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developers.openai.com, agentskills.io, modelcontextprotocol.io, anthropic.com, github.com/a2aproject/A2A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FDAE5-0373-4929-8094-D5B2A5E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synthesis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49E75C-5A65-4BF1-BDDB-3C5A845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8871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2026-07-04T16:08:39.2340000Z</dcterms:created>
  <dcterms:modified xsi:type="dcterms:W3CDTF">2026-07-04T16:08:39.2340000Z</dcterms:modified>
</coreProperties>
</file>